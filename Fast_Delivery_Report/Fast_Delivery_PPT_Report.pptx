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BF4FB"/>
    <a:srgbClr val="1C4167"/>
    <a:srgbClr val="1E46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4" d="100"/>
          <a:sy n="104" d="100"/>
        </p:scale>
        <p:origin x="144" y="12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0B9543-54EF-4280-8DFA-3F2FCB60A0BC}" type="datetimeFigureOut">
              <a:rPr lang="en-IN" smtClean="0"/>
              <a:t>16-08-2026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FDAFD2-083F-41B3-98F5-B221A2F32EED}" type="slidenum">
              <a:rPr lang="en-IN" smtClean="0"/>
              <a:t>‹#›</a:t>
            </a:fld>
            <a:endParaRPr lang="en-IN"/>
          </a:p>
        </p:txBody>
      </p:sp>
    </p:spTree>
    <p:extLst>
      <p:ext uri="{BB962C8B-B14F-4D97-AF65-F5344CB8AC3E}">
        <p14:creationId xmlns:p14="http://schemas.microsoft.com/office/powerpoint/2010/main" val="346949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5FDAFD2-083F-41B3-98F5-B221A2F32EED}" type="slidenum">
              <a:rPr lang="en-IN" smtClean="0"/>
              <a:t>3</a:t>
            </a:fld>
            <a:endParaRPr lang="en-IN"/>
          </a:p>
        </p:txBody>
      </p:sp>
    </p:spTree>
    <p:extLst>
      <p:ext uri="{BB962C8B-B14F-4D97-AF65-F5344CB8AC3E}">
        <p14:creationId xmlns:p14="http://schemas.microsoft.com/office/powerpoint/2010/main" val="10017355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98C26-89DF-8FEB-96EE-528AC0C870D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N"/>
          </a:p>
        </p:txBody>
      </p:sp>
      <p:sp>
        <p:nvSpPr>
          <p:cNvPr id="3" name="Subtitle 2">
            <a:extLst>
              <a:ext uri="{FF2B5EF4-FFF2-40B4-BE49-F238E27FC236}">
                <a16:creationId xmlns:a16="http://schemas.microsoft.com/office/drawing/2014/main" id="{A4AEA1CE-98B0-2ADA-6AB8-619105A824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id="{92088940-B9E7-D3BD-23E3-51AE93B60636}"/>
              </a:ext>
            </a:extLst>
          </p:cNvPr>
          <p:cNvSpPr>
            <a:spLocks noGrp="1"/>
          </p:cNvSpPr>
          <p:nvPr>
            <p:ph type="dt" sz="half" idx="10"/>
          </p:nvPr>
        </p:nvSpPr>
        <p:spPr/>
        <p:txBody>
          <a:bodyPr/>
          <a:lstStyle/>
          <a:p>
            <a:fld id="{5A26E245-6A9C-4ADD-B122-3EDB8205D9F1}" type="datetimeFigureOut">
              <a:rPr lang="en-IN" smtClean="0"/>
              <a:t>16-08-2026</a:t>
            </a:fld>
            <a:endParaRPr lang="en-IN"/>
          </a:p>
        </p:txBody>
      </p:sp>
      <p:sp>
        <p:nvSpPr>
          <p:cNvPr id="5" name="Footer Placeholder 4">
            <a:extLst>
              <a:ext uri="{FF2B5EF4-FFF2-40B4-BE49-F238E27FC236}">
                <a16:creationId xmlns:a16="http://schemas.microsoft.com/office/drawing/2014/main" id="{3D2A25A9-1BFE-35FA-3444-7AFB4AED66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437E8B-67EE-483A-55F3-F809BAE5B8D4}"/>
              </a:ext>
            </a:extLst>
          </p:cNvPr>
          <p:cNvSpPr>
            <a:spLocks noGrp="1"/>
          </p:cNvSpPr>
          <p:nvPr>
            <p:ph type="sldNum" sz="quarter" idx="12"/>
          </p:nvPr>
        </p:nvSpPr>
        <p:spPr/>
        <p:txBody>
          <a:bodyPr/>
          <a:lstStyle/>
          <a:p>
            <a:fld id="{B9C8AF58-89A5-4E28-A759-27C0740EBA05}" type="slidenum">
              <a:rPr lang="en-IN" smtClean="0"/>
              <a:t>‹#›</a:t>
            </a:fld>
            <a:endParaRPr lang="en-IN"/>
          </a:p>
        </p:txBody>
      </p:sp>
    </p:spTree>
    <p:extLst>
      <p:ext uri="{BB962C8B-B14F-4D97-AF65-F5344CB8AC3E}">
        <p14:creationId xmlns:p14="http://schemas.microsoft.com/office/powerpoint/2010/main" val="11672374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BEAA3-DFBC-7AB3-1B3D-2F9872A2D360}"/>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02B3D78A-957C-FDC8-DE83-91E0FD1CB18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E3F23DB8-AE3C-704D-E2F0-554AD973C947}"/>
              </a:ext>
            </a:extLst>
          </p:cNvPr>
          <p:cNvSpPr>
            <a:spLocks noGrp="1"/>
          </p:cNvSpPr>
          <p:nvPr>
            <p:ph type="dt" sz="half" idx="10"/>
          </p:nvPr>
        </p:nvSpPr>
        <p:spPr/>
        <p:txBody>
          <a:bodyPr/>
          <a:lstStyle/>
          <a:p>
            <a:fld id="{5A26E245-6A9C-4ADD-B122-3EDB8205D9F1}" type="datetimeFigureOut">
              <a:rPr lang="en-IN" smtClean="0"/>
              <a:t>16-08-2026</a:t>
            </a:fld>
            <a:endParaRPr lang="en-IN"/>
          </a:p>
        </p:txBody>
      </p:sp>
      <p:sp>
        <p:nvSpPr>
          <p:cNvPr id="5" name="Footer Placeholder 4">
            <a:extLst>
              <a:ext uri="{FF2B5EF4-FFF2-40B4-BE49-F238E27FC236}">
                <a16:creationId xmlns:a16="http://schemas.microsoft.com/office/drawing/2014/main" id="{0C5571E5-7BB3-A474-1659-65D26FC5E0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B04DF8-4344-4E79-8A7E-7D9282E9D161}"/>
              </a:ext>
            </a:extLst>
          </p:cNvPr>
          <p:cNvSpPr>
            <a:spLocks noGrp="1"/>
          </p:cNvSpPr>
          <p:nvPr>
            <p:ph type="sldNum" sz="quarter" idx="12"/>
          </p:nvPr>
        </p:nvSpPr>
        <p:spPr/>
        <p:txBody>
          <a:bodyPr/>
          <a:lstStyle/>
          <a:p>
            <a:fld id="{B9C8AF58-89A5-4E28-A759-27C0740EBA05}" type="slidenum">
              <a:rPr lang="en-IN" smtClean="0"/>
              <a:t>‹#›</a:t>
            </a:fld>
            <a:endParaRPr lang="en-IN"/>
          </a:p>
        </p:txBody>
      </p:sp>
    </p:spTree>
    <p:extLst>
      <p:ext uri="{BB962C8B-B14F-4D97-AF65-F5344CB8AC3E}">
        <p14:creationId xmlns:p14="http://schemas.microsoft.com/office/powerpoint/2010/main" val="12649229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9EDF6-4005-9C2C-D276-1A287A96268D}"/>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id="{0FC1187D-59F1-2264-1D49-24DDB62A969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1BCB997-E315-D3FE-C085-A5C4672DBC4A}"/>
              </a:ext>
            </a:extLst>
          </p:cNvPr>
          <p:cNvSpPr>
            <a:spLocks noGrp="1"/>
          </p:cNvSpPr>
          <p:nvPr>
            <p:ph type="dt" sz="half" idx="10"/>
          </p:nvPr>
        </p:nvSpPr>
        <p:spPr/>
        <p:txBody>
          <a:bodyPr/>
          <a:lstStyle/>
          <a:p>
            <a:fld id="{5A26E245-6A9C-4ADD-B122-3EDB8205D9F1}" type="datetimeFigureOut">
              <a:rPr lang="en-IN" smtClean="0"/>
              <a:t>16-08-2026</a:t>
            </a:fld>
            <a:endParaRPr lang="en-IN"/>
          </a:p>
        </p:txBody>
      </p:sp>
      <p:sp>
        <p:nvSpPr>
          <p:cNvPr id="5" name="Footer Placeholder 4">
            <a:extLst>
              <a:ext uri="{FF2B5EF4-FFF2-40B4-BE49-F238E27FC236}">
                <a16:creationId xmlns:a16="http://schemas.microsoft.com/office/drawing/2014/main" id="{F499D44F-9278-7289-65D7-FDECAC0B60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B42F12-E1AE-960F-D7CC-4D278452440F}"/>
              </a:ext>
            </a:extLst>
          </p:cNvPr>
          <p:cNvSpPr>
            <a:spLocks noGrp="1"/>
          </p:cNvSpPr>
          <p:nvPr>
            <p:ph type="sldNum" sz="quarter" idx="12"/>
          </p:nvPr>
        </p:nvSpPr>
        <p:spPr/>
        <p:txBody>
          <a:bodyPr/>
          <a:lstStyle/>
          <a:p>
            <a:fld id="{B9C8AF58-89A5-4E28-A759-27C0740EBA05}" type="slidenum">
              <a:rPr lang="en-IN" smtClean="0"/>
              <a:t>‹#›</a:t>
            </a:fld>
            <a:endParaRPr lang="en-IN"/>
          </a:p>
        </p:txBody>
      </p:sp>
    </p:spTree>
    <p:extLst>
      <p:ext uri="{BB962C8B-B14F-4D97-AF65-F5344CB8AC3E}">
        <p14:creationId xmlns:p14="http://schemas.microsoft.com/office/powerpoint/2010/main" val="940578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FFAF8-F12F-F87F-0FCD-3E0F4C364692}"/>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7ADFC063-4E90-257E-65B7-4E933EBBE08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id="{502EE6C4-5FCF-3231-1937-234F587D8D1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id="{65DDE80E-05C3-6447-A3C2-8E06EFE46C28}"/>
              </a:ext>
            </a:extLst>
          </p:cNvPr>
          <p:cNvSpPr>
            <a:spLocks noGrp="1"/>
          </p:cNvSpPr>
          <p:nvPr>
            <p:ph type="dt" sz="half" idx="10"/>
          </p:nvPr>
        </p:nvSpPr>
        <p:spPr/>
        <p:txBody>
          <a:bodyPr/>
          <a:lstStyle/>
          <a:p>
            <a:fld id="{5A26E245-6A9C-4ADD-B122-3EDB8205D9F1}" type="datetimeFigureOut">
              <a:rPr lang="en-IN" smtClean="0"/>
              <a:t>16-08-2026</a:t>
            </a:fld>
            <a:endParaRPr lang="en-IN"/>
          </a:p>
        </p:txBody>
      </p:sp>
      <p:sp>
        <p:nvSpPr>
          <p:cNvPr id="6" name="Footer Placeholder 5">
            <a:extLst>
              <a:ext uri="{FF2B5EF4-FFF2-40B4-BE49-F238E27FC236}">
                <a16:creationId xmlns:a16="http://schemas.microsoft.com/office/drawing/2014/main" id="{A3A4645D-3080-107D-70CB-00E5096673A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12E6BEE-04FC-BAE8-CEAE-6BC25893EE9B}"/>
              </a:ext>
            </a:extLst>
          </p:cNvPr>
          <p:cNvSpPr>
            <a:spLocks noGrp="1"/>
          </p:cNvSpPr>
          <p:nvPr>
            <p:ph type="sldNum" sz="quarter" idx="12"/>
          </p:nvPr>
        </p:nvSpPr>
        <p:spPr/>
        <p:txBody>
          <a:bodyPr/>
          <a:lstStyle/>
          <a:p>
            <a:fld id="{B9C8AF58-89A5-4E28-A759-27C0740EBA05}" type="slidenum">
              <a:rPr lang="en-IN" smtClean="0"/>
              <a:t>‹#›</a:t>
            </a:fld>
            <a:endParaRPr lang="en-IN"/>
          </a:p>
        </p:txBody>
      </p:sp>
    </p:spTree>
    <p:extLst>
      <p:ext uri="{BB962C8B-B14F-4D97-AF65-F5344CB8AC3E}">
        <p14:creationId xmlns:p14="http://schemas.microsoft.com/office/powerpoint/2010/main" val="123407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CC5DA-D0ED-AE68-D9D4-E2BA89E98D52}"/>
              </a:ext>
            </a:extLst>
          </p:cNvPr>
          <p:cNvSpPr>
            <a:spLocks noGrp="1"/>
          </p:cNvSpPr>
          <p:nvPr>
            <p:ph type="title"/>
          </p:nvPr>
        </p:nvSpPr>
        <p:spPr>
          <a:xfrm>
            <a:off x="839788" y="365125"/>
            <a:ext cx="10515600" cy="13255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id="{43DAC501-F7BC-095C-3023-1894EFB0D1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CC48D26-6185-097D-5127-9876795B1FC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id="{6CE8174A-39EE-7D2E-C8F9-E92254ABC2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9232CBB-0272-F6AF-1759-44447E6C5D9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id="{2F6BA855-0C33-972E-4711-670EB3CB5EEC}"/>
              </a:ext>
            </a:extLst>
          </p:cNvPr>
          <p:cNvSpPr>
            <a:spLocks noGrp="1"/>
          </p:cNvSpPr>
          <p:nvPr>
            <p:ph type="dt" sz="half" idx="10"/>
          </p:nvPr>
        </p:nvSpPr>
        <p:spPr/>
        <p:txBody>
          <a:bodyPr/>
          <a:lstStyle/>
          <a:p>
            <a:fld id="{5A26E245-6A9C-4ADD-B122-3EDB8205D9F1}" type="datetimeFigureOut">
              <a:rPr lang="en-IN" smtClean="0"/>
              <a:t>16-08-2026</a:t>
            </a:fld>
            <a:endParaRPr lang="en-IN"/>
          </a:p>
        </p:txBody>
      </p:sp>
      <p:sp>
        <p:nvSpPr>
          <p:cNvPr id="8" name="Footer Placeholder 7">
            <a:extLst>
              <a:ext uri="{FF2B5EF4-FFF2-40B4-BE49-F238E27FC236}">
                <a16:creationId xmlns:a16="http://schemas.microsoft.com/office/drawing/2014/main" id="{964D3B65-4F38-067A-CAC3-63A9A3FA194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75188FF-3E89-CCB0-3C63-05B287D3C062}"/>
              </a:ext>
            </a:extLst>
          </p:cNvPr>
          <p:cNvSpPr>
            <a:spLocks noGrp="1"/>
          </p:cNvSpPr>
          <p:nvPr>
            <p:ph type="sldNum" sz="quarter" idx="12"/>
          </p:nvPr>
        </p:nvSpPr>
        <p:spPr/>
        <p:txBody>
          <a:bodyPr/>
          <a:lstStyle/>
          <a:p>
            <a:fld id="{B9C8AF58-89A5-4E28-A759-27C0740EBA05}" type="slidenum">
              <a:rPr lang="en-IN" smtClean="0"/>
              <a:t>‹#›</a:t>
            </a:fld>
            <a:endParaRPr lang="en-IN"/>
          </a:p>
        </p:txBody>
      </p:sp>
    </p:spTree>
    <p:extLst>
      <p:ext uri="{BB962C8B-B14F-4D97-AF65-F5344CB8AC3E}">
        <p14:creationId xmlns:p14="http://schemas.microsoft.com/office/powerpoint/2010/main" val="16657397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ECE71-9C78-0161-3F60-0DD813F64D9C}"/>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id="{92EF1D3C-03CA-B099-E6AD-2E4781AEFE5A}"/>
              </a:ext>
            </a:extLst>
          </p:cNvPr>
          <p:cNvSpPr>
            <a:spLocks noGrp="1"/>
          </p:cNvSpPr>
          <p:nvPr>
            <p:ph type="dt" sz="half" idx="10"/>
          </p:nvPr>
        </p:nvSpPr>
        <p:spPr/>
        <p:txBody>
          <a:bodyPr/>
          <a:lstStyle/>
          <a:p>
            <a:fld id="{5A26E245-6A9C-4ADD-B122-3EDB8205D9F1}" type="datetimeFigureOut">
              <a:rPr lang="en-IN" smtClean="0"/>
              <a:t>16-08-2026</a:t>
            </a:fld>
            <a:endParaRPr lang="en-IN"/>
          </a:p>
        </p:txBody>
      </p:sp>
      <p:sp>
        <p:nvSpPr>
          <p:cNvPr id="4" name="Footer Placeholder 3">
            <a:extLst>
              <a:ext uri="{FF2B5EF4-FFF2-40B4-BE49-F238E27FC236}">
                <a16:creationId xmlns:a16="http://schemas.microsoft.com/office/drawing/2014/main" id="{FFFAFA5E-5162-50E1-2095-BDB4491A308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7930AAF-4765-9182-4736-6A0DB779BE5F}"/>
              </a:ext>
            </a:extLst>
          </p:cNvPr>
          <p:cNvSpPr>
            <a:spLocks noGrp="1"/>
          </p:cNvSpPr>
          <p:nvPr>
            <p:ph type="sldNum" sz="quarter" idx="12"/>
          </p:nvPr>
        </p:nvSpPr>
        <p:spPr/>
        <p:txBody>
          <a:bodyPr/>
          <a:lstStyle/>
          <a:p>
            <a:fld id="{B9C8AF58-89A5-4E28-A759-27C0740EBA05}" type="slidenum">
              <a:rPr lang="en-IN" smtClean="0"/>
              <a:t>‹#›</a:t>
            </a:fld>
            <a:endParaRPr lang="en-IN"/>
          </a:p>
        </p:txBody>
      </p:sp>
    </p:spTree>
    <p:extLst>
      <p:ext uri="{BB962C8B-B14F-4D97-AF65-F5344CB8AC3E}">
        <p14:creationId xmlns:p14="http://schemas.microsoft.com/office/powerpoint/2010/main" val="227709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051AA4-BDC4-C60C-C6F3-F541D3704678}"/>
              </a:ext>
            </a:extLst>
          </p:cNvPr>
          <p:cNvSpPr>
            <a:spLocks noGrp="1"/>
          </p:cNvSpPr>
          <p:nvPr>
            <p:ph type="dt" sz="half" idx="10"/>
          </p:nvPr>
        </p:nvSpPr>
        <p:spPr/>
        <p:txBody>
          <a:bodyPr/>
          <a:lstStyle/>
          <a:p>
            <a:fld id="{5A26E245-6A9C-4ADD-B122-3EDB8205D9F1}" type="datetimeFigureOut">
              <a:rPr lang="en-IN" smtClean="0"/>
              <a:t>16-08-2026</a:t>
            </a:fld>
            <a:endParaRPr lang="en-IN"/>
          </a:p>
        </p:txBody>
      </p:sp>
      <p:sp>
        <p:nvSpPr>
          <p:cNvPr id="3" name="Footer Placeholder 2">
            <a:extLst>
              <a:ext uri="{FF2B5EF4-FFF2-40B4-BE49-F238E27FC236}">
                <a16:creationId xmlns:a16="http://schemas.microsoft.com/office/drawing/2014/main" id="{D55E9127-E26C-7F4D-43AB-35010B8D848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EDFCF3B-83AE-1985-1987-6D4BE9C16CB7}"/>
              </a:ext>
            </a:extLst>
          </p:cNvPr>
          <p:cNvSpPr>
            <a:spLocks noGrp="1"/>
          </p:cNvSpPr>
          <p:nvPr>
            <p:ph type="sldNum" sz="quarter" idx="12"/>
          </p:nvPr>
        </p:nvSpPr>
        <p:spPr/>
        <p:txBody>
          <a:bodyPr/>
          <a:lstStyle/>
          <a:p>
            <a:fld id="{B9C8AF58-89A5-4E28-A759-27C0740EBA05}" type="slidenum">
              <a:rPr lang="en-IN" smtClean="0"/>
              <a:t>‹#›</a:t>
            </a:fld>
            <a:endParaRPr lang="en-IN"/>
          </a:p>
        </p:txBody>
      </p:sp>
    </p:spTree>
    <p:extLst>
      <p:ext uri="{BB962C8B-B14F-4D97-AF65-F5344CB8AC3E}">
        <p14:creationId xmlns:p14="http://schemas.microsoft.com/office/powerpoint/2010/main" val="590165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37655-C910-A701-66AE-3C01C351593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id="{74F460B3-2846-9913-47E5-146E204C173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id="{6774C38C-5F63-2A12-4013-4EDC62EB59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62A852D-BE9B-7258-157C-98D5767D67F7}"/>
              </a:ext>
            </a:extLst>
          </p:cNvPr>
          <p:cNvSpPr>
            <a:spLocks noGrp="1"/>
          </p:cNvSpPr>
          <p:nvPr>
            <p:ph type="dt" sz="half" idx="10"/>
          </p:nvPr>
        </p:nvSpPr>
        <p:spPr/>
        <p:txBody>
          <a:bodyPr/>
          <a:lstStyle/>
          <a:p>
            <a:fld id="{5A26E245-6A9C-4ADD-B122-3EDB8205D9F1}" type="datetimeFigureOut">
              <a:rPr lang="en-IN" smtClean="0"/>
              <a:t>16-08-2026</a:t>
            </a:fld>
            <a:endParaRPr lang="en-IN"/>
          </a:p>
        </p:txBody>
      </p:sp>
      <p:sp>
        <p:nvSpPr>
          <p:cNvPr id="6" name="Footer Placeholder 5">
            <a:extLst>
              <a:ext uri="{FF2B5EF4-FFF2-40B4-BE49-F238E27FC236}">
                <a16:creationId xmlns:a16="http://schemas.microsoft.com/office/drawing/2014/main" id="{C4241ADA-0AB3-B015-27DF-31E1D7E4E03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8D22F5A-0D7E-A081-02E1-60FEE18A8946}"/>
              </a:ext>
            </a:extLst>
          </p:cNvPr>
          <p:cNvSpPr>
            <a:spLocks noGrp="1"/>
          </p:cNvSpPr>
          <p:nvPr>
            <p:ph type="sldNum" sz="quarter" idx="12"/>
          </p:nvPr>
        </p:nvSpPr>
        <p:spPr/>
        <p:txBody>
          <a:bodyPr/>
          <a:lstStyle/>
          <a:p>
            <a:fld id="{B9C8AF58-89A5-4E28-A759-27C0740EBA05}" type="slidenum">
              <a:rPr lang="en-IN" smtClean="0"/>
              <a:t>‹#›</a:t>
            </a:fld>
            <a:endParaRPr lang="en-IN"/>
          </a:p>
        </p:txBody>
      </p:sp>
    </p:spTree>
    <p:extLst>
      <p:ext uri="{BB962C8B-B14F-4D97-AF65-F5344CB8AC3E}">
        <p14:creationId xmlns:p14="http://schemas.microsoft.com/office/powerpoint/2010/main" val="28221258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786CB-AFE7-D016-8943-7594A6FC396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id="{61B599F3-2A38-7220-2593-69C8834FD4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1872899-D4B3-C5AA-DF00-A474173B2C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821C5C4-DC2A-5D34-5903-A67F2B5A7B41}"/>
              </a:ext>
            </a:extLst>
          </p:cNvPr>
          <p:cNvSpPr>
            <a:spLocks noGrp="1"/>
          </p:cNvSpPr>
          <p:nvPr>
            <p:ph type="dt" sz="half" idx="10"/>
          </p:nvPr>
        </p:nvSpPr>
        <p:spPr/>
        <p:txBody>
          <a:bodyPr/>
          <a:lstStyle/>
          <a:p>
            <a:fld id="{5A26E245-6A9C-4ADD-B122-3EDB8205D9F1}" type="datetimeFigureOut">
              <a:rPr lang="en-IN" smtClean="0"/>
              <a:t>16-08-2026</a:t>
            </a:fld>
            <a:endParaRPr lang="en-IN"/>
          </a:p>
        </p:txBody>
      </p:sp>
      <p:sp>
        <p:nvSpPr>
          <p:cNvPr id="6" name="Footer Placeholder 5">
            <a:extLst>
              <a:ext uri="{FF2B5EF4-FFF2-40B4-BE49-F238E27FC236}">
                <a16:creationId xmlns:a16="http://schemas.microsoft.com/office/drawing/2014/main" id="{DB0A018D-5DE2-FEA4-8F26-1D4520D71E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AB154BE-8ECB-7A12-336C-E383AF200F66}"/>
              </a:ext>
            </a:extLst>
          </p:cNvPr>
          <p:cNvSpPr>
            <a:spLocks noGrp="1"/>
          </p:cNvSpPr>
          <p:nvPr>
            <p:ph type="sldNum" sz="quarter" idx="12"/>
          </p:nvPr>
        </p:nvSpPr>
        <p:spPr/>
        <p:txBody>
          <a:bodyPr/>
          <a:lstStyle/>
          <a:p>
            <a:fld id="{B9C8AF58-89A5-4E28-A759-27C0740EBA05}" type="slidenum">
              <a:rPr lang="en-IN" smtClean="0"/>
              <a:t>‹#›</a:t>
            </a:fld>
            <a:endParaRPr lang="en-IN"/>
          </a:p>
        </p:txBody>
      </p:sp>
    </p:spTree>
    <p:extLst>
      <p:ext uri="{BB962C8B-B14F-4D97-AF65-F5344CB8AC3E}">
        <p14:creationId xmlns:p14="http://schemas.microsoft.com/office/powerpoint/2010/main" val="21225335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C821A-3B85-3DD7-4210-F5ED498B0894}"/>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B6070E6B-4FB2-188A-B412-DB4F343AD96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7F67CFD5-3C14-1B3B-A378-AA29F0B6EE5A}"/>
              </a:ext>
            </a:extLst>
          </p:cNvPr>
          <p:cNvSpPr>
            <a:spLocks noGrp="1"/>
          </p:cNvSpPr>
          <p:nvPr>
            <p:ph type="dt" sz="half" idx="10"/>
          </p:nvPr>
        </p:nvSpPr>
        <p:spPr/>
        <p:txBody>
          <a:bodyPr/>
          <a:lstStyle/>
          <a:p>
            <a:fld id="{5A26E245-6A9C-4ADD-B122-3EDB8205D9F1}" type="datetimeFigureOut">
              <a:rPr lang="en-IN" smtClean="0"/>
              <a:t>16-08-2026</a:t>
            </a:fld>
            <a:endParaRPr lang="en-IN"/>
          </a:p>
        </p:txBody>
      </p:sp>
      <p:sp>
        <p:nvSpPr>
          <p:cNvPr id="5" name="Footer Placeholder 4">
            <a:extLst>
              <a:ext uri="{FF2B5EF4-FFF2-40B4-BE49-F238E27FC236}">
                <a16:creationId xmlns:a16="http://schemas.microsoft.com/office/drawing/2014/main" id="{0CAF2ABF-DAD5-E127-0320-A4D28D1249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FFA318-90DD-59CF-E6A2-D77429A4004B}"/>
              </a:ext>
            </a:extLst>
          </p:cNvPr>
          <p:cNvSpPr>
            <a:spLocks noGrp="1"/>
          </p:cNvSpPr>
          <p:nvPr>
            <p:ph type="sldNum" sz="quarter" idx="12"/>
          </p:nvPr>
        </p:nvSpPr>
        <p:spPr/>
        <p:txBody>
          <a:bodyPr/>
          <a:lstStyle/>
          <a:p>
            <a:fld id="{B9C8AF58-89A5-4E28-A759-27C0740EBA05}" type="slidenum">
              <a:rPr lang="en-IN" smtClean="0"/>
              <a:t>‹#›</a:t>
            </a:fld>
            <a:endParaRPr lang="en-IN"/>
          </a:p>
        </p:txBody>
      </p:sp>
    </p:spTree>
    <p:extLst>
      <p:ext uri="{BB962C8B-B14F-4D97-AF65-F5344CB8AC3E}">
        <p14:creationId xmlns:p14="http://schemas.microsoft.com/office/powerpoint/2010/main" val="34625127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43057E-EB81-E271-7C0C-A1875A62751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85A92EBE-80DB-3FE8-2E4B-722F5BBB77C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FA1C221E-3A3F-3A9A-6949-8863D3ACB2EE}"/>
              </a:ext>
            </a:extLst>
          </p:cNvPr>
          <p:cNvSpPr>
            <a:spLocks noGrp="1"/>
          </p:cNvSpPr>
          <p:nvPr>
            <p:ph type="dt" sz="half" idx="10"/>
          </p:nvPr>
        </p:nvSpPr>
        <p:spPr/>
        <p:txBody>
          <a:bodyPr/>
          <a:lstStyle/>
          <a:p>
            <a:fld id="{5A26E245-6A9C-4ADD-B122-3EDB8205D9F1}" type="datetimeFigureOut">
              <a:rPr lang="en-IN" smtClean="0"/>
              <a:t>16-08-2026</a:t>
            </a:fld>
            <a:endParaRPr lang="en-IN"/>
          </a:p>
        </p:txBody>
      </p:sp>
      <p:sp>
        <p:nvSpPr>
          <p:cNvPr id="5" name="Footer Placeholder 4">
            <a:extLst>
              <a:ext uri="{FF2B5EF4-FFF2-40B4-BE49-F238E27FC236}">
                <a16:creationId xmlns:a16="http://schemas.microsoft.com/office/drawing/2014/main" id="{3E1080B5-A617-585F-DB88-B1E9F9338E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ED6276-F2E6-946B-9EED-E325B4EA7C47}"/>
              </a:ext>
            </a:extLst>
          </p:cNvPr>
          <p:cNvSpPr>
            <a:spLocks noGrp="1"/>
          </p:cNvSpPr>
          <p:nvPr>
            <p:ph type="sldNum" sz="quarter" idx="12"/>
          </p:nvPr>
        </p:nvSpPr>
        <p:spPr/>
        <p:txBody>
          <a:bodyPr/>
          <a:lstStyle/>
          <a:p>
            <a:fld id="{B9C8AF58-89A5-4E28-A759-27C0740EBA05}" type="slidenum">
              <a:rPr lang="en-IN" smtClean="0"/>
              <a:t>‹#›</a:t>
            </a:fld>
            <a:endParaRPr lang="en-IN"/>
          </a:p>
        </p:txBody>
      </p:sp>
    </p:spTree>
    <p:extLst>
      <p:ext uri="{BB962C8B-B14F-4D97-AF65-F5344CB8AC3E}">
        <p14:creationId xmlns:p14="http://schemas.microsoft.com/office/powerpoint/2010/main" val="3592490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A74030-2216-B267-C2CE-6CF8028C5D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a:extLst>
              <a:ext uri="{FF2B5EF4-FFF2-40B4-BE49-F238E27FC236}">
                <a16:creationId xmlns:a16="http://schemas.microsoft.com/office/drawing/2014/main" id="{6B50B068-D84E-6EDC-C37C-3A57743356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3856ED70-7EC7-38BA-8DEF-35CDF9B966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A26E245-6A9C-4ADD-B122-3EDB8205D9F1}" type="datetimeFigureOut">
              <a:rPr lang="en-IN" smtClean="0"/>
              <a:t>16-08-2026</a:t>
            </a:fld>
            <a:endParaRPr lang="en-IN"/>
          </a:p>
        </p:txBody>
      </p:sp>
      <p:sp>
        <p:nvSpPr>
          <p:cNvPr id="5" name="Footer Placeholder 4">
            <a:extLst>
              <a:ext uri="{FF2B5EF4-FFF2-40B4-BE49-F238E27FC236}">
                <a16:creationId xmlns:a16="http://schemas.microsoft.com/office/drawing/2014/main" id="{171F69EB-E175-DC77-2F12-7C0BB127DB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381B267-8D5A-F0C4-DF26-303D8043D2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9C8AF58-89A5-4E28-A759-27C0740EBA05}" type="slidenum">
              <a:rPr lang="en-IN" smtClean="0"/>
              <a:t>‹#›</a:t>
            </a:fld>
            <a:endParaRPr lang="en-IN"/>
          </a:p>
        </p:txBody>
      </p:sp>
    </p:spTree>
    <p:extLst>
      <p:ext uri="{BB962C8B-B14F-4D97-AF65-F5344CB8AC3E}">
        <p14:creationId xmlns:p14="http://schemas.microsoft.com/office/powerpoint/2010/main" val="35242914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C416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4F952-E20F-4F94-B988-68519964C7C7}"/>
              </a:ext>
            </a:extLst>
          </p:cNvPr>
          <p:cNvSpPr>
            <a:spLocks noGrp="1"/>
          </p:cNvSpPr>
          <p:nvPr>
            <p:ph type="ctrTitle"/>
          </p:nvPr>
        </p:nvSpPr>
        <p:spPr>
          <a:xfrm>
            <a:off x="1524000" y="1122363"/>
            <a:ext cx="9144000" cy="850816"/>
          </a:xfrm>
        </p:spPr>
        <p:txBody>
          <a:bodyPr>
            <a:normAutofit/>
          </a:bodyPr>
          <a:lstStyle/>
          <a:p>
            <a:pPr algn="l"/>
            <a:r>
              <a:rPr lang="en-IN" sz="4000" b="1" dirty="0">
                <a:solidFill>
                  <a:schemeClr val="bg1"/>
                </a:solidFill>
              </a:rPr>
              <a:t>FAST DELIVERY</a:t>
            </a:r>
          </a:p>
        </p:txBody>
      </p:sp>
      <p:sp>
        <p:nvSpPr>
          <p:cNvPr id="3" name="Subtitle 2">
            <a:extLst>
              <a:ext uri="{FF2B5EF4-FFF2-40B4-BE49-F238E27FC236}">
                <a16:creationId xmlns:a16="http://schemas.microsoft.com/office/drawing/2014/main" id="{3462AF3A-1154-E8DD-675E-AC2EFDB660FF}"/>
              </a:ext>
            </a:extLst>
          </p:cNvPr>
          <p:cNvSpPr>
            <a:spLocks noGrp="1"/>
          </p:cNvSpPr>
          <p:nvPr>
            <p:ph type="subTitle" idx="1"/>
          </p:nvPr>
        </p:nvSpPr>
        <p:spPr>
          <a:xfrm>
            <a:off x="1524000" y="2366795"/>
            <a:ext cx="9144000" cy="376404"/>
          </a:xfrm>
        </p:spPr>
        <p:txBody>
          <a:bodyPr>
            <a:normAutofit fontScale="92500" lnSpcReduction="10000"/>
          </a:bodyPr>
          <a:lstStyle/>
          <a:p>
            <a:pPr algn="l"/>
            <a:r>
              <a:rPr lang="en-IN" dirty="0">
                <a:solidFill>
                  <a:schemeClr val="bg1"/>
                </a:solidFill>
              </a:rPr>
              <a:t>Customer Experience &amp; Operations Dashboard</a:t>
            </a:r>
          </a:p>
        </p:txBody>
      </p:sp>
      <p:sp>
        <p:nvSpPr>
          <p:cNvPr id="4" name="Subtitle 2">
            <a:extLst>
              <a:ext uri="{FF2B5EF4-FFF2-40B4-BE49-F238E27FC236}">
                <a16:creationId xmlns:a16="http://schemas.microsoft.com/office/drawing/2014/main" id="{3F774AF9-7679-0E10-B5AA-67D103ABF6EA}"/>
              </a:ext>
            </a:extLst>
          </p:cNvPr>
          <p:cNvSpPr txBox="1">
            <a:spLocks/>
          </p:cNvSpPr>
          <p:nvPr/>
        </p:nvSpPr>
        <p:spPr>
          <a:xfrm>
            <a:off x="1524000" y="3926600"/>
            <a:ext cx="9144000" cy="37640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sz="1800" dirty="0">
                <a:solidFill>
                  <a:schemeClr val="bg1"/>
                </a:solidFill>
              </a:rPr>
              <a:t>Power BI Business Analysis Project</a:t>
            </a:r>
          </a:p>
        </p:txBody>
      </p:sp>
    </p:spTree>
    <p:extLst>
      <p:ext uri="{BB962C8B-B14F-4D97-AF65-F5344CB8AC3E}">
        <p14:creationId xmlns:p14="http://schemas.microsoft.com/office/powerpoint/2010/main" val="2886236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BF4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1BB50-6D46-3F52-3442-0507677DFD50}"/>
              </a:ext>
            </a:extLst>
          </p:cNvPr>
          <p:cNvSpPr>
            <a:spLocks noGrp="1"/>
          </p:cNvSpPr>
          <p:nvPr>
            <p:ph type="ctrTitle"/>
          </p:nvPr>
        </p:nvSpPr>
        <p:spPr>
          <a:xfrm>
            <a:off x="898358" y="673184"/>
            <a:ext cx="9561095" cy="477837"/>
          </a:xfrm>
        </p:spPr>
        <p:txBody>
          <a:bodyPr>
            <a:noAutofit/>
          </a:bodyPr>
          <a:lstStyle/>
          <a:p>
            <a:pPr algn="l"/>
            <a:r>
              <a:rPr lang="en-IN" sz="2800" dirty="0"/>
              <a:t>Business Problem</a:t>
            </a:r>
          </a:p>
        </p:txBody>
      </p:sp>
      <p:sp>
        <p:nvSpPr>
          <p:cNvPr id="3" name="Subtitle 2">
            <a:extLst>
              <a:ext uri="{FF2B5EF4-FFF2-40B4-BE49-F238E27FC236}">
                <a16:creationId xmlns:a16="http://schemas.microsoft.com/office/drawing/2014/main" id="{9BF27ED8-7540-DBB9-0387-B215ED0A6630}"/>
              </a:ext>
            </a:extLst>
          </p:cNvPr>
          <p:cNvSpPr>
            <a:spLocks noGrp="1"/>
          </p:cNvSpPr>
          <p:nvPr>
            <p:ph type="subTitle" idx="1"/>
          </p:nvPr>
        </p:nvSpPr>
        <p:spPr>
          <a:xfrm>
            <a:off x="898358" y="1375611"/>
            <a:ext cx="5566610" cy="477837"/>
          </a:xfrm>
        </p:spPr>
        <p:txBody>
          <a:bodyPr>
            <a:normAutofit/>
          </a:bodyPr>
          <a:lstStyle/>
          <a:p>
            <a:r>
              <a:rPr lang="en-IN" sz="1600" dirty="0"/>
              <a:t>Turn customer reviews into clear operational decisions.</a:t>
            </a:r>
          </a:p>
        </p:txBody>
      </p:sp>
      <p:sp>
        <p:nvSpPr>
          <p:cNvPr id="4" name="Subtitle 2">
            <a:extLst>
              <a:ext uri="{FF2B5EF4-FFF2-40B4-BE49-F238E27FC236}">
                <a16:creationId xmlns:a16="http://schemas.microsoft.com/office/drawing/2014/main" id="{4F7BE0F2-AF3A-1EDD-7133-3E82B931A7AE}"/>
              </a:ext>
            </a:extLst>
          </p:cNvPr>
          <p:cNvSpPr txBox="1">
            <a:spLocks/>
          </p:cNvSpPr>
          <p:nvPr/>
        </p:nvSpPr>
        <p:spPr>
          <a:xfrm>
            <a:off x="1106905" y="2591385"/>
            <a:ext cx="9144000" cy="37640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IN" dirty="0"/>
          </a:p>
        </p:txBody>
      </p:sp>
      <p:sp>
        <p:nvSpPr>
          <p:cNvPr id="5" name="TextBox 4">
            <a:extLst>
              <a:ext uri="{FF2B5EF4-FFF2-40B4-BE49-F238E27FC236}">
                <a16:creationId xmlns:a16="http://schemas.microsoft.com/office/drawing/2014/main" id="{38D8D355-046E-E5D4-6AED-4C1DEF45372F}"/>
              </a:ext>
            </a:extLst>
          </p:cNvPr>
          <p:cNvSpPr txBox="1"/>
          <p:nvPr/>
        </p:nvSpPr>
        <p:spPr>
          <a:xfrm>
            <a:off x="1339515" y="2040923"/>
            <a:ext cx="10250905" cy="1477328"/>
          </a:xfrm>
          <a:prstGeom prst="rect">
            <a:avLst/>
          </a:prstGeom>
          <a:noFill/>
        </p:spPr>
        <p:txBody>
          <a:bodyPr wrap="square" rtlCol="0">
            <a:spAutoFit/>
          </a:bodyPr>
          <a:lstStyle/>
          <a:p>
            <a:pPr marL="285750" indent="-285750">
              <a:buFont typeface="Arial" panose="020B0604020202020204" pitchFamily="34" charset="0"/>
              <a:buChar char="•"/>
            </a:pPr>
            <a:r>
              <a:rPr lang="en-IN" dirty="0"/>
              <a:t>Customers provide thousands of reviews, but management needs to know where problems occur.</a:t>
            </a:r>
          </a:p>
          <a:p>
            <a:pPr marL="285750" indent="-285750">
              <a:buFont typeface="Arial" panose="020B0604020202020204" pitchFamily="34" charset="0"/>
              <a:buChar char="•"/>
            </a:pPr>
            <a:r>
              <a:rPr lang="en-IN" dirty="0"/>
              <a:t>Key concerns include order accuracy, negative feedback, delivery time, service quality and product availability.</a:t>
            </a:r>
          </a:p>
          <a:p>
            <a:pPr marL="285750" indent="-285750">
              <a:buFont typeface="Arial" panose="020B0604020202020204" pitchFamily="34" charset="0"/>
              <a:buChar char="•"/>
            </a:pPr>
            <a:r>
              <a:rPr lang="en-IN" dirty="0"/>
              <a:t>Management needs location-level analysis to prioritize corrective action.</a:t>
            </a:r>
          </a:p>
          <a:p>
            <a:pPr marL="285750" indent="-285750">
              <a:buFont typeface="Arial" panose="020B0604020202020204" pitchFamily="34" charset="0"/>
              <a:buChar char="•"/>
            </a:pPr>
            <a:r>
              <a:rPr lang="en-IN" dirty="0"/>
              <a:t>An interactive Power BI dashboard provides KPIs, charts, a map and slicers for faster investigation.</a:t>
            </a:r>
          </a:p>
        </p:txBody>
      </p:sp>
    </p:spTree>
    <p:extLst>
      <p:ext uri="{BB962C8B-B14F-4D97-AF65-F5344CB8AC3E}">
        <p14:creationId xmlns:p14="http://schemas.microsoft.com/office/powerpoint/2010/main" val="1841563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C20BFB38-1A10-B7A4-9F3E-F1ED012E59FE}"/>
              </a:ext>
            </a:extLst>
          </p:cNvPr>
          <p:cNvSpPr/>
          <p:nvPr/>
        </p:nvSpPr>
        <p:spPr>
          <a:xfrm>
            <a:off x="0" y="0"/>
            <a:ext cx="12192000" cy="6858000"/>
          </a:xfrm>
          <a:prstGeom prst="rect">
            <a:avLst/>
          </a:prstGeom>
          <a:solidFill>
            <a:schemeClr val="tx2">
              <a:lumMod val="10000"/>
              <a:lumOff val="90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TextBox 18">
            <a:extLst>
              <a:ext uri="{FF2B5EF4-FFF2-40B4-BE49-F238E27FC236}">
                <a16:creationId xmlns:a16="http://schemas.microsoft.com/office/drawing/2014/main" id="{5618CB9C-83A1-E037-14B8-2E1D218FA28A}"/>
              </a:ext>
            </a:extLst>
          </p:cNvPr>
          <p:cNvSpPr txBox="1"/>
          <p:nvPr/>
        </p:nvSpPr>
        <p:spPr>
          <a:xfrm>
            <a:off x="713232" y="329184"/>
            <a:ext cx="10625328" cy="584775"/>
          </a:xfrm>
          <a:prstGeom prst="rect">
            <a:avLst/>
          </a:prstGeom>
          <a:noFill/>
        </p:spPr>
        <p:txBody>
          <a:bodyPr wrap="square" rtlCol="0">
            <a:spAutoFit/>
          </a:bodyPr>
          <a:lstStyle/>
          <a:p>
            <a:r>
              <a:rPr lang="en-IN" sz="3200" b="1" dirty="0">
                <a:latin typeface="+mj-lt"/>
              </a:rPr>
              <a:t> Executive KPI Summary </a:t>
            </a:r>
          </a:p>
        </p:txBody>
      </p:sp>
      <p:sp>
        <p:nvSpPr>
          <p:cNvPr id="20" name="TextBox 19">
            <a:extLst>
              <a:ext uri="{FF2B5EF4-FFF2-40B4-BE49-F238E27FC236}">
                <a16:creationId xmlns:a16="http://schemas.microsoft.com/office/drawing/2014/main" id="{A22D254E-63CA-CBC0-1CF6-1C97CA5096B4}"/>
              </a:ext>
            </a:extLst>
          </p:cNvPr>
          <p:cNvSpPr txBox="1"/>
          <p:nvPr/>
        </p:nvSpPr>
        <p:spPr>
          <a:xfrm>
            <a:off x="853440" y="913959"/>
            <a:ext cx="6537960" cy="307777"/>
          </a:xfrm>
          <a:prstGeom prst="rect">
            <a:avLst/>
          </a:prstGeom>
          <a:noFill/>
        </p:spPr>
        <p:txBody>
          <a:bodyPr wrap="square" rtlCol="0">
            <a:spAutoFit/>
          </a:bodyPr>
          <a:lstStyle/>
          <a:p>
            <a:r>
              <a:rPr lang="en-US" sz="1400" dirty="0"/>
              <a:t>Key indicators from the Fast Delivery Agent Reviews dataset</a:t>
            </a:r>
            <a:endParaRPr lang="en-IN" sz="1400" dirty="0"/>
          </a:p>
        </p:txBody>
      </p:sp>
      <p:sp>
        <p:nvSpPr>
          <p:cNvPr id="21" name="Rectangle: Rounded Corners 20">
            <a:extLst>
              <a:ext uri="{FF2B5EF4-FFF2-40B4-BE49-F238E27FC236}">
                <a16:creationId xmlns:a16="http://schemas.microsoft.com/office/drawing/2014/main" id="{B9F048F6-F36C-190A-DB5E-54CEE88B2383}"/>
              </a:ext>
            </a:extLst>
          </p:cNvPr>
          <p:cNvSpPr/>
          <p:nvPr/>
        </p:nvSpPr>
        <p:spPr>
          <a:xfrm>
            <a:off x="853440" y="1996408"/>
            <a:ext cx="1852815" cy="1157122"/>
          </a:xfrm>
          <a:prstGeom prst="roundRect">
            <a:avLst/>
          </a:prstGeom>
          <a:solidFill>
            <a:schemeClr val="bg1"/>
          </a:solidFill>
          <a:ln>
            <a:solidFill>
              <a:schemeClr val="tx2">
                <a:lumMod val="10000"/>
                <a:lumOff val="9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0" name="TextBox 29">
            <a:extLst>
              <a:ext uri="{FF2B5EF4-FFF2-40B4-BE49-F238E27FC236}">
                <a16:creationId xmlns:a16="http://schemas.microsoft.com/office/drawing/2014/main" id="{8804630F-BC5A-C5D6-BBB1-FD78226BC1CC}"/>
              </a:ext>
            </a:extLst>
          </p:cNvPr>
          <p:cNvSpPr txBox="1"/>
          <p:nvPr/>
        </p:nvSpPr>
        <p:spPr>
          <a:xfrm>
            <a:off x="1182256" y="2150296"/>
            <a:ext cx="1237672" cy="307777"/>
          </a:xfrm>
          <a:prstGeom prst="rect">
            <a:avLst/>
          </a:prstGeom>
          <a:noFill/>
        </p:spPr>
        <p:txBody>
          <a:bodyPr wrap="square" rtlCol="0">
            <a:spAutoFit/>
          </a:bodyPr>
          <a:lstStyle/>
          <a:p>
            <a:pPr algn="ctr"/>
            <a:r>
              <a:rPr lang="en-IN" sz="1400" dirty="0"/>
              <a:t>Total Reviews</a:t>
            </a:r>
          </a:p>
        </p:txBody>
      </p:sp>
      <p:sp>
        <p:nvSpPr>
          <p:cNvPr id="31" name="TextBox 30">
            <a:extLst>
              <a:ext uri="{FF2B5EF4-FFF2-40B4-BE49-F238E27FC236}">
                <a16:creationId xmlns:a16="http://schemas.microsoft.com/office/drawing/2014/main" id="{6A60E246-6F2E-7DA0-3827-4868C4E1F021}"/>
              </a:ext>
            </a:extLst>
          </p:cNvPr>
          <p:cNvSpPr txBox="1"/>
          <p:nvPr/>
        </p:nvSpPr>
        <p:spPr>
          <a:xfrm>
            <a:off x="1243307" y="2636524"/>
            <a:ext cx="979053" cy="338554"/>
          </a:xfrm>
          <a:prstGeom prst="rect">
            <a:avLst/>
          </a:prstGeom>
          <a:noFill/>
        </p:spPr>
        <p:txBody>
          <a:bodyPr wrap="square" rtlCol="0">
            <a:spAutoFit/>
          </a:bodyPr>
          <a:lstStyle/>
          <a:p>
            <a:pPr algn="ctr"/>
            <a:r>
              <a:rPr lang="en-IN" sz="1600" dirty="0"/>
              <a:t>5000</a:t>
            </a:r>
          </a:p>
        </p:txBody>
      </p:sp>
      <p:sp>
        <p:nvSpPr>
          <p:cNvPr id="32" name="Rectangle: Rounded Corners 31">
            <a:extLst>
              <a:ext uri="{FF2B5EF4-FFF2-40B4-BE49-F238E27FC236}">
                <a16:creationId xmlns:a16="http://schemas.microsoft.com/office/drawing/2014/main" id="{B5000C39-FB2B-1013-8B8D-5F0CC7C442F2}"/>
              </a:ext>
            </a:extLst>
          </p:cNvPr>
          <p:cNvSpPr/>
          <p:nvPr/>
        </p:nvSpPr>
        <p:spPr>
          <a:xfrm>
            <a:off x="3148303" y="3928202"/>
            <a:ext cx="1852815" cy="1157122"/>
          </a:xfrm>
          <a:prstGeom prst="roundRect">
            <a:avLst/>
          </a:prstGeom>
          <a:solidFill>
            <a:schemeClr val="bg1"/>
          </a:solidFill>
          <a:ln>
            <a:solidFill>
              <a:schemeClr val="tx2">
                <a:lumMod val="10000"/>
                <a:lumOff val="9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3" name="Rectangle: Rounded Corners 32">
            <a:extLst>
              <a:ext uri="{FF2B5EF4-FFF2-40B4-BE49-F238E27FC236}">
                <a16:creationId xmlns:a16="http://schemas.microsoft.com/office/drawing/2014/main" id="{6E54D08D-5D24-198E-9093-D5D200B882F4}"/>
              </a:ext>
            </a:extLst>
          </p:cNvPr>
          <p:cNvSpPr/>
          <p:nvPr/>
        </p:nvSpPr>
        <p:spPr>
          <a:xfrm>
            <a:off x="853440" y="3928202"/>
            <a:ext cx="1852815" cy="1157122"/>
          </a:xfrm>
          <a:prstGeom prst="roundRect">
            <a:avLst/>
          </a:prstGeom>
          <a:solidFill>
            <a:schemeClr val="bg1"/>
          </a:solidFill>
          <a:ln>
            <a:solidFill>
              <a:schemeClr val="tx2">
                <a:lumMod val="10000"/>
                <a:lumOff val="9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4" name="Rectangle: Rounded Corners 33">
            <a:extLst>
              <a:ext uri="{FF2B5EF4-FFF2-40B4-BE49-F238E27FC236}">
                <a16:creationId xmlns:a16="http://schemas.microsoft.com/office/drawing/2014/main" id="{A5072027-ED66-0B81-F546-C567BD1BB992}"/>
              </a:ext>
            </a:extLst>
          </p:cNvPr>
          <p:cNvSpPr/>
          <p:nvPr/>
        </p:nvSpPr>
        <p:spPr>
          <a:xfrm>
            <a:off x="3148304" y="1996408"/>
            <a:ext cx="1852815" cy="1157122"/>
          </a:xfrm>
          <a:prstGeom prst="roundRect">
            <a:avLst/>
          </a:prstGeom>
          <a:solidFill>
            <a:schemeClr val="bg1"/>
          </a:solidFill>
          <a:ln>
            <a:solidFill>
              <a:schemeClr val="tx2">
                <a:lumMod val="10000"/>
                <a:lumOff val="9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5" name="Rectangle: Rounded Corners 34">
            <a:extLst>
              <a:ext uri="{FF2B5EF4-FFF2-40B4-BE49-F238E27FC236}">
                <a16:creationId xmlns:a16="http://schemas.microsoft.com/office/drawing/2014/main" id="{A2081259-8067-0C38-1AE4-C7CA398684BE}"/>
              </a:ext>
            </a:extLst>
          </p:cNvPr>
          <p:cNvSpPr/>
          <p:nvPr/>
        </p:nvSpPr>
        <p:spPr>
          <a:xfrm>
            <a:off x="5427840" y="1996408"/>
            <a:ext cx="1852815" cy="1157122"/>
          </a:xfrm>
          <a:prstGeom prst="roundRect">
            <a:avLst/>
          </a:prstGeom>
          <a:solidFill>
            <a:schemeClr val="bg1"/>
          </a:solidFill>
          <a:ln>
            <a:solidFill>
              <a:schemeClr val="tx2">
                <a:lumMod val="10000"/>
                <a:lumOff val="9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6" name="Rectangle: Rounded Corners 35">
            <a:extLst>
              <a:ext uri="{FF2B5EF4-FFF2-40B4-BE49-F238E27FC236}">
                <a16:creationId xmlns:a16="http://schemas.microsoft.com/office/drawing/2014/main" id="{A0532807-E5BE-9442-2272-A82187409B58}"/>
              </a:ext>
            </a:extLst>
          </p:cNvPr>
          <p:cNvSpPr/>
          <p:nvPr/>
        </p:nvSpPr>
        <p:spPr>
          <a:xfrm>
            <a:off x="7673153" y="1996408"/>
            <a:ext cx="1852815" cy="1157122"/>
          </a:xfrm>
          <a:prstGeom prst="roundRect">
            <a:avLst/>
          </a:prstGeom>
          <a:solidFill>
            <a:schemeClr val="bg1"/>
          </a:solidFill>
          <a:ln>
            <a:solidFill>
              <a:schemeClr val="tx2">
                <a:lumMod val="10000"/>
                <a:lumOff val="9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7" name="Rectangle: Rounded Corners 36">
            <a:extLst>
              <a:ext uri="{FF2B5EF4-FFF2-40B4-BE49-F238E27FC236}">
                <a16:creationId xmlns:a16="http://schemas.microsoft.com/office/drawing/2014/main" id="{72113706-60E8-E8DB-BD69-A558738087F0}"/>
              </a:ext>
            </a:extLst>
          </p:cNvPr>
          <p:cNvSpPr/>
          <p:nvPr/>
        </p:nvSpPr>
        <p:spPr>
          <a:xfrm>
            <a:off x="9918467" y="1996408"/>
            <a:ext cx="1852815" cy="1157122"/>
          </a:xfrm>
          <a:prstGeom prst="roundRect">
            <a:avLst/>
          </a:prstGeom>
          <a:solidFill>
            <a:schemeClr val="bg1"/>
          </a:solidFill>
          <a:ln>
            <a:solidFill>
              <a:schemeClr val="tx2">
                <a:lumMod val="10000"/>
                <a:lumOff val="9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8" name="TextBox 37">
            <a:extLst>
              <a:ext uri="{FF2B5EF4-FFF2-40B4-BE49-F238E27FC236}">
                <a16:creationId xmlns:a16="http://schemas.microsoft.com/office/drawing/2014/main" id="{CFD0433C-842E-46B0-655E-B1FE62949BA6}"/>
              </a:ext>
            </a:extLst>
          </p:cNvPr>
          <p:cNvSpPr txBox="1"/>
          <p:nvPr/>
        </p:nvSpPr>
        <p:spPr>
          <a:xfrm>
            <a:off x="3245427" y="2150296"/>
            <a:ext cx="1852815" cy="307777"/>
          </a:xfrm>
          <a:prstGeom prst="rect">
            <a:avLst/>
          </a:prstGeom>
          <a:noFill/>
        </p:spPr>
        <p:txBody>
          <a:bodyPr wrap="square" rtlCol="0">
            <a:spAutoFit/>
          </a:bodyPr>
          <a:lstStyle/>
          <a:p>
            <a:pPr algn="ctr"/>
            <a:r>
              <a:rPr lang="en-IN" sz="1400" dirty="0"/>
              <a:t>Average Rating</a:t>
            </a:r>
          </a:p>
        </p:txBody>
      </p:sp>
      <p:sp>
        <p:nvSpPr>
          <p:cNvPr id="39" name="TextBox 38">
            <a:extLst>
              <a:ext uri="{FF2B5EF4-FFF2-40B4-BE49-F238E27FC236}">
                <a16:creationId xmlns:a16="http://schemas.microsoft.com/office/drawing/2014/main" id="{C3B28EF0-1414-ADAD-356A-46D6DC63A9AA}"/>
              </a:ext>
            </a:extLst>
          </p:cNvPr>
          <p:cNvSpPr txBox="1"/>
          <p:nvPr/>
        </p:nvSpPr>
        <p:spPr>
          <a:xfrm>
            <a:off x="3245427" y="2636524"/>
            <a:ext cx="1852815" cy="338554"/>
          </a:xfrm>
          <a:prstGeom prst="rect">
            <a:avLst/>
          </a:prstGeom>
          <a:noFill/>
        </p:spPr>
        <p:txBody>
          <a:bodyPr wrap="square" rtlCol="0">
            <a:spAutoFit/>
          </a:bodyPr>
          <a:lstStyle/>
          <a:p>
            <a:pPr algn="ctr"/>
            <a:r>
              <a:rPr lang="en-IN" sz="1600" dirty="0"/>
              <a:t>3.00</a:t>
            </a:r>
          </a:p>
        </p:txBody>
      </p:sp>
      <p:sp>
        <p:nvSpPr>
          <p:cNvPr id="40" name="TextBox 39">
            <a:extLst>
              <a:ext uri="{FF2B5EF4-FFF2-40B4-BE49-F238E27FC236}">
                <a16:creationId xmlns:a16="http://schemas.microsoft.com/office/drawing/2014/main" id="{3B4151E4-00EA-C830-6A80-D2F0746E18BE}"/>
              </a:ext>
            </a:extLst>
          </p:cNvPr>
          <p:cNvSpPr txBox="1"/>
          <p:nvPr/>
        </p:nvSpPr>
        <p:spPr>
          <a:xfrm>
            <a:off x="5559551" y="2150296"/>
            <a:ext cx="1778277" cy="307777"/>
          </a:xfrm>
          <a:prstGeom prst="rect">
            <a:avLst/>
          </a:prstGeom>
          <a:noFill/>
        </p:spPr>
        <p:txBody>
          <a:bodyPr wrap="square" rtlCol="0">
            <a:spAutoFit/>
          </a:bodyPr>
          <a:lstStyle/>
          <a:p>
            <a:pPr algn="ctr"/>
            <a:r>
              <a:rPr lang="en-IN" sz="1400" dirty="0"/>
              <a:t>Average Delivery</a:t>
            </a:r>
          </a:p>
        </p:txBody>
      </p:sp>
      <p:sp>
        <p:nvSpPr>
          <p:cNvPr id="41" name="TextBox 40">
            <a:extLst>
              <a:ext uri="{FF2B5EF4-FFF2-40B4-BE49-F238E27FC236}">
                <a16:creationId xmlns:a16="http://schemas.microsoft.com/office/drawing/2014/main" id="{BB26F591-E224-ECAC-5690-0A796926A31D}"/>
              </a:ext>
            </a:extLst>
          </p:cNvPr>
          <p:cNvSpPr txBox="1"/>
          <p:nvPr/>
        </p:nvSpPr>
        <p:spPr>
          <a:xfrm>
            <a:off x="5485013" y="2636524"/>
            <a:ext cx="1852815" cy="338554"/>
          </a:xfrm>
          <a:prstGeom prst="rect">
            <a:avLst/>
          </a:prstGeom>
          <a:noFill/>
        </p:spPr>
        <p:txBody>
          <a:bodyPr wrap="square" rtlCol="0">
            <a:spAutoFit/>
          </a:bodyPr>
          <a:lstStyle/>
          <a:p>
            <a:pPr algn="ctr"/>
            <a:r>
              <a:rPr lang="en-IN" sz="1600" dirty="0"/>
              <a:t>34.96min</a:t>
            </a:r>
          </a:p>
        </p:txBody>
      </p:sp>
      <p:sp>
        <p:nvSpPr>
          <p:cNvPr id="2" name="TextBox 1">
            <a:extLst>
              <a:ext uri="{FF2B5EF4-FFF2-40B4-BE49-F238E27FC236}">
                <a16:creationId xmlns:a16="http://schemas.microsoft.com/office/drawing/2014/main" id="{4078D2D2-EF92-A8D4-54CD-02C4CEA3EF34}"/>
              </a:ext>
            </a:extLst>
          </p:cNvPr>
          <p:cNvSpPr txBox="1"/>
          <p:nvPr/>
        </p:nvSpPr>
        <p:spPr>
          <a:xfrm>
            <a:off x="7642628" y="2150296"/>
            <a:ext cx="1855123" cy="307777"/>
          </a:xfrm>
          <a:prstGeom prst="rect">
            <a:avLst/>
          </a:prstGeom>
          <a:noFill/>
        </p:spPr>
        <p:txBody>
          <a:bodyPr wrap="square" rtlCol="0">
            <a:spAutoFit/>
          </a:bodyPr>
          <a:lstStyle/>
          <a:p>
            <a:pPr algn="ctr"/>
            <a:r>
              <a:rPr lang="en-IN" sz="1400" dirty="0"/>
              <a:t>Service Rating</a:t>
            </a:r>
          </a:p>
        </p:txBody>
      </p:sp>
      <p:sp>
        <p:nvSpPr>
          <p:cNvPr id="3" name="TextBox 2">
            <a:extLst>
              <a:ext uri="{FF2B5EF4-FFF2-40B4-BE49-F238E27FC236}">
                <a16:creationId xmlns:a16="http://schemas.microsoft.com/office/drawing/2014/main" id="{A087E539-D408-F1B2-87B4-5556BF8AEE08}"/>
              </a:ext>
            </a:extLst>
          </p:cNvPr>
          <p:cNvSpPr txBox="1"/>
          <p:nvPr/>
        </p:nvSpPr>
        <p:spPr>
          <a:xfrm>
            <a:off x="7642628" y="2611961"/>
            <a:ext cx="1855123" cy="338554"/>
          </a:xfrm>
          <a:prstGeom prst="rect">
            <a:avLst/>
          </a:prstGeom>
          <a:noFill/>
        </p:spPr>
        <p:txBody>
          <a:bodyPr wrap="square" rtlCol="0">
            <a:spAutoFit/>
          </a:bodyPr>
          <a:lstStyle/>
          <a:p>
            <a:pPr algn="ctr"/>
            <a:r>
              <a:rPr lang="en-IN" sz="1600" dirty="0"/>
              <a:t>2.97</a:t>
            </a:r>
          </a:p>
        </p:txBody>
      </p:sp>
      <p:sp>
        <p:nvSpPr>
          <p:cNvPr id="4" name="TextBox 3">
            <a:extLst>
              <a:ext uri="{FF2B5EF4-FFF2-40B4-BE49-F238E27FC236}">
                <a16:creationId xmlns:a16="http://schemas.microsoft.com/office/drawing/2014/main" id="{5F9E5CE6-811A-F031-A8FD-620284A83612}"/>
              </a:ext>
            </a:extLst>
          </p:cNvPr>
          <p:cNvSpPr txBox="1"/>
          <p:nvPr/>
        </p:nvSpPr>
        <p:spPr>
          <a:xfrm>
            <a:off x="9802550" y="2150295"/>
            <a:ext cx="1852815" cy="307777"/>
          </a:xfrm>
          <a:prstGeom prst="rect">
            <a:avLst/>
          </a:prstGeom>
          <a:noFill/>
        </p:spPr>
        <p:txBody>
          <a:bodyPr wrap="square" rtlCol="0">
            <a:spAutoFit/>
          </a:bodyPr>
          <a:lstStyle/>
          <a:p>
            <a:pPr algn="ctr"/>
            <a:r>
              <a:rPr lang="en-IN" sz="1400" dirty="0"/>
              <a:t>Order Accuracy</a:t>
            </a:r>
          </a:p>
        </p:txBody>
      </p:sp>
      <p:sp>
        <p:nvSpPr>
          <p:cNvPr id="5" name="TextBox 4">
            <a:extLst>
              <a:ext uri="{FF2B5EF4-FFF2-40B4-BE49-F238E27FC236}">
                <a16:creationId xmlns:a16="http://schemas.microsoft.com/office/drawing/2014/main" id="{7B0C1E87-9989-385F-81DF-0D47C2C63F48}"/>
              </a:ext>
            </a:extLst>
          </p:cNvPr>
          <p:cNvSpPr txBox="1"/>
          <p:nvPr/>
        </p:nvSpPr>
        <p:spPr>
          <a:xfrm>
            <a:off x="9802550" y="2636524"/>
            <a:ext cx="1852815" cy="369332"/>
          </a:xfrm>
          <a:prstGeom prst="rect">
            <a:avLst/>
          </a:prstGeom>
          <a:noFill/>
        </p:spPr>
        <p:txBody>
          <a:bodyPr wrap="square" rtlCol="0">
            <a:spAutoFit/>
          </a:bodyPr>
          <a:lstStyle/>
          <a:p>
            <a:pPr algn="ctr"/>
            <a:r>
              <a:rPr lang="en-IN" sz="1600" dirty="0"/>
              <a:t>50.30</a:t>
            </a:r>
            <a:r>
              <a:rPr lang="en-IN" dirty="0"/>
              <a:t>%</a:t>
            </a:r>
          </a:p>
        </p:txBody>
      </p:sp>
      <p:sp>
        <p:nvSpPr>
          <p:cNvPr id="6" name="TextBox 5">
            <a:extLst>
              <a:ext uri="{FF2B5EF4-FFF2-40B4-BE49-F238E27FC236}">
                <a16:creationId xmlns:a16="http://schemas.microsoft.com/office/drawing/2014/main" id="{A3D169C6-2976-3B3C-37DF-820D6CA7BEDE}"/>
              </a:ext>
            </a:extLst>
          </p:cNvPr>
          <p:cNvSpPr txBox="1"/>
          <p:nvPr/>
        </p:nvSpPr>
        <p:spPr>
          <a:xfrm>
            <a:off x="853440" y="4114800"/>
            <a:ext cx="1874059" cy="307777"/>
          </a:xfrm>
          <a:prstGeom prst="rect">
            <a:avLst/>
          </a:prstGeom>
          <a:noFill/>
        </p:spPr>
        <p:txBody>
          <a:bodyPr wrap="square" rtlCol="0">
            <a:spAutoFit/>
          </a:bodyPr>
          <a:lstStyle/>
          <a:p>
            <a:pPr algn="ctr"/>
            <a:r>
              <a:rPr lang="en-IN" sz="1400" dirty="0"/>
              <a:t>Negative Feedback</a:t>
            </a:r>
          </a:p>
        </p:txBody>
      </p:sp>
      <p:sp>
        <p:nvSpPr>
          <p:cNvPr id="7" name="TextBox 6">
            <a:extLst>
              <a:ext uri="{FF2B5EF4-FFF2-40B4-BE49-F238E27FC236}">
                <a16:creationId xmlns:a16="http://schemas.microsoft.com/office/drawing/2014/main" id="{4AEFA63E-6976-7489-BFDE-D46821E44348}"/>
              </a:ext>
            </a:extLst>
          </p:cNvPr>
          <p:cNvSpPr txBox="1"/>
          <p:nvPr/>
        </p:nvSpPr>
        <p:spPr>
          <a:xfrm>
            <a:off x="853439" y="4609175"/>
            <a:ext cx="1852815" cy="369332"/>
          </a:xfrm>
          <a:prstGeom prst="rect">
            <a:avLst/>
          </a:prstGeom>
          <a:noFill/>
        </p:spPr>
        <p:txBody>
          <a:bodyPr wrap="square" rtlCol="0">
            <a:spAutoFit/>
          </a:bodyPr>
          <a:lstStyle/>
          <a:p>
            <a:pPr algn="ctr"/>
            <a:r>
              <a:rPr lang="en-IN" sz="1600" dirty="0"/>
              <a:t>34.54</a:t>
            </a:r>
            <a:r>
              <a:rPr lang="en-IN" dirty="0"/>
              <a:t>%</a:t>
            </a:r>
          </a:p>
        </p:txBody>
      </p:sp>
      <p:sp>
        <p:nvSpPr>
          <p:cNvPr id="8" name="TextBox 7">
            <a:extLst>
              <a:ext uri="{FF2B5EF4-FFF2-40B4-BE49-F238E27FC236}">
                <a16:creationId xmlns:a16="http://schemas.microsoft.com/office/drawing/2014/main" id="{F97FA8BF-DA3E-C66E-CC4C-4B6D758AB71B}"/>
              </a:ext>
            </a:extLst>
          </p:cNvPr>
          <p:cNvSpPr txBox="1"/>
          <p:nvPr/>
        </p:nvSpPr>
        <p:spPr>
          <a:xfrm>
            <a:off x="3148303" y="4114800"/>
            <a:ext cx="1852815" cy="307777"/>
          </a:xfrm>
          <a:prstGeom prst="rect">
            <a:avLst/>
          </a:prstGeom>
          <a:noFill/>
        </p:spPr>
        <p:txBody>
          <a:bodyPr wrap="square" rtlCol="0">
            <a:spAutoFit/>
          </a:bodyPr>
          <a:lstStyle/>
          <a:p>
            <a:pPr algn="ctr"/>
            <a:r>
              <a:rPr lang="en-IN" sz="1400" dirty="0"/>
              <a:t>Out of Stock</a:t>
            </a:r>
          </a:p>
        </p:txBody>
      </p:sp>
      <p:sp>
        <p:nvSpPr>
          <p:cNvPr id="9" name="TextBox 8">
            <a:extLst>
              <a:ext uri="{FF2B5EF4-FFF2-40B4-BE49-F238E27FC236}">
                <a16:creationId xmlns:a16="http://schemas.microsoft.com/office/drawing/2014/main" id="{E0BD4902-076A-DD42-88C5-4FD749086C1B}"/>
              </a:ext>
            </a:extLst>
          </p:cNvPr>
          <p:cNvSpPr txBox="1"/>
          <p:nvPr/>
        </p:nvSpPr>
        <p:spPr>
          <a:xfrm>
            <a:off x="3148303" y="4609175"/>
            <a:ext cx="1852815" cy="369332"/>
          </a:xfrm>
          <a:prstGeom prst="rect">
            <a:avLst/>
          </a:prstGeom>
          <a:noFill/>
        </p:spPr>
        <p:txBody>
          <a:bodyPr wrap="square" rtlCol="0">
            <a:spAutoFit/>
          </a:bodyPr>
          <a:lstStyle/>
          <a:p>
            <a:pPr algn="ctr"/>
            <a:r>
              <a:rPr lang="en-IN" sz="1600" dirty="0"/>
              <a:t>50.06</a:t>
            </a:r>
            <a:r>
              <a:rPr lang="en-IN" dirty="0"/>
              <a:t>%</a:t>
            </a:r>
          </a:p>
        </p:txBody>
      </p:sp>
    </p:spTree>
    <p:extLst>
      <p:ext uri="{BB962C8B-B14F-4D97-AF65-F5344CB8AC3E}">
        <p14:creationId xmlns:p14="http://schemas.microsoft.com/office/powerpoint/2010/main" val="2211499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BF4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64D959-379B-DB2C-2345-467766495595}"/>
              </a:ext>
            </a:extLst>
          </p:cNvPr>
          <p:cNvSpPr txBox="1"/>
          <p:nvPr/>
        </p:nvSpPr>
        <p:spPr>
          <a:xfrm>
            <a:off x="649544" y="367932"/>
            <a:ext cx="6656832" cy="523220"/>
          </a:xfrm>
          <a:prstGeom prst="rect">
            <a:avLst/>
          </a:prstGeom>
          <a:noFill/>
        </p:spPr>
        <p:txBody>
          <a:bodyPr wrap="square" rtlCol="0">
            <a:spAutoFit/>
          </a:bodyPr>
          <a:lstStyle/>
          <a:p>
            <a:r>
              <a:rPr lang="en-IN" sz="2800" b="1" dirty="0">
                <a:latin typeface="+mj-lt"/>
              </a:rPr>
              <a:t>Key Business Problems</a:t>
            </a:r>
          </a:p>
        </p:txBody>
      </p:sp>
      <p:sp>
        <p:nvSpPr>
          <p:cNvPr id="4" name="TextBox 3">
            <a:extLst>
              <a:ext uri="{FF2B5EF4-FFF2-40B4-BE49-F238E27FC236}">
                <a16:creationId xmlns:a16="http://schemas.microsoft.com/office/drawing/2014/main" id="{4E2C756D-F080-0AB8-D658-8052DCD8720F}"/>
              </a:ext>
            </a:extLst>
          </p:cNvPr>
          <p:cNvSpPr txBox="1"/>
          <p:nvPr/>
        </p:nvSpPr>
        <p:spPr>
          <a:xfrm>
            <a:off x="1014984" y="1051560"/>
            <a:ext cx="10607040" cy="2541530"/>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IN" sz="1600" dirty="0"/>
              <a:t>Order accuracy is 50.30% - investigate incorrect-order processes and problem locations.</a:t>
            </a:r>
          </a:p>
          <a:p>
            <a:pPr marL="285750" indent="-285750">
              <a:lnSpc>
                <a:spcPct val="200000"/>
              </a:lnSpc>
              <a:buFont typeface="Arial" panose="020B0604020202020204" pitchFamily="34" charset="0"/>
              <a:buChar char="•"/>
            </a:pPr>
            <a:r>
              <a:rPr lang="en-IN" sz="1600" dirty="0"/>
              <a:t>Negative feedback is 34.54% - identify locations and operational factors associated with complaints.</a:t>
            </a:r>
          </a:p>
          <a:p>
            <a:pPr marL="285750" indent="-285750">
              <a:lnSpc>
                <a:spcPct val="200000"/>
              </a:lnSpc>
              <a:buFont typeface="Arial" panose="020B0604020202020204" pitchFamily="34" charset="0"/>
              <a:buChar char="•"/>
            </a:pPr>
            <a:r>
              <a:rPr lang="en-IN" sz="1600" dirty="0"/>
              <a:t>Average delivery time is 34.96 minutes – identify slow locations and operational bottlenecks.</a:t>
            </a:r>
          </a:p>
          <a:p>
            <a:pPr marL="285750" indent="-285750">
              <a:lnSpc>
                <a:spcPct val="200000"/>
              </a:lnSpc>
              <a:buFont typeface="Arial" panose="020B0604020202020204" pitchFamily="34" charset="0"/>
              <a:buChar char="•"/>
            </a:pPr>
            <a:r>
              <a:rPr lang="en-IN" sz="1600" dirty="0"/>
              <a:t>Customer service rating is 2.97/5 – identify service-quality gaps.</a:t>
            </a:r>
          </a:p>
          <a:p>
            <a:pPr marL="285750" indent="-285750">
              <a:lnSpc>
                <a:spcPct val="200000"/>
              </a:lnSpc>
              <a:buFont typeface="Arial" panose="020B0604020202020204" pitchFamily="34" charset="0"/>
              <a:buChar char="•"/>
            </a:pPr>
            <a:r>
              <a:rPr lang="en-IN" sz="1600" dirty="0"/>
              <a:t>Out-of-stock performance is 50.06% - review inventory availability and replenishment</a:t>
            </a:r>
            <a:r>
              <a:rPr lang="en-IN" dirty="0"/>
              <a:t>.</a:t>
            </a:r>
          </a:p>
        </p:txBody>
      </p:sp>
    </p:spTree>
    <p:extLst>
      <p:ext uri="{BB962C8B-B14F-4D97-AF65-F5344CB8AC3E}">
        <p14:creationId xmlns:p14="http://schemas.microsoft.com/office/powerpoint/2010/main" val="406822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BF4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A0525E4-64D4-A336-9ABE-B8E6FEADD218}"/>
              </a:ext>
            </a:extLst>
          </p:cNvPr>
          <p:cNvSpPr txBox="1"/>
          <p:nvPr/>
        </p:nvSpPr>
        <p:spPr>
          <a:xfrm>
            <a:off x="521208" y="475488"/>
            <a:ext cx="6675120" cy="584775"/>
          </a:xfrm>
          <a:prstGeom prst="rect">
            <a:avLst/>
          </a:prstGeom>
          <a:noFill/>
        </p:spPr>
        <p:txBody>
          <a:bodyPr wrap="square" rtlCol="0">
            <a:spAutoFit/>
          </a:bodyPr>
          <a:lstStyle/>
          <a:p>
            <a:r>
              <a:rPr lang="en-IN" sz="3200" b="1" dirty="0"/>
              <a:t>Power BI Dashboard Solution</a:t>
            </a:r>
          </a:p>
        </p:txBody>
      </p:sp>
      <p:sp>
        <p:nvSpPr>
          <p:cNvPr id="3" name="TextBox 2">
            <a:extLst>
              <a:ext uri="{FF2B5EF4-FFF2-40B4-BE49-F238E27FC236}">
                <a16:creationId xmlns:a16="http://schemas.microsoft.com/office/drawing/2014/main" id="{18B423F5-3AA7-370E-D14D-0A81A744DA88}"/>
              </a:ext>
            </a:extLst>
          </p:cNvPr>
          <p:cNvSpPr txBox="1"/>
          <p:nvPr/>
        </p:nvSpPr>
        <p:spPr>
          <a:xfrm>
            <a:off x="1005840" y="1344168"/>
            <a:ext cx="10305288" cy="254537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dirty="0"/>
              <a:t>KPI cards give management an immediate performance summary.</a:t>
            </a:r>
          </a:p>
          <a:p>
            <a:pPr marL="285750" indent="-285750">
              <a:lnSpc>
                <a:spcPct val="150000"/>
              </a:lnSpc>
              <a:buFont typeface="Arial" panose="020B0604020202020204" pitchFamily="34" charset="0"/>
              <a:buChar char="•"/>
            </a:pPr>
            <a:r>
              <a:rPr lang="en-IN" dirty="0"/>
              <a:t>Location charts identify where customer experience and operations are weakest.</a:t>
            </a:r>
          </a:p>
          <a:p>
            <a:pPr marL="285750" indent="-285750">
              <a:lnSpc>
                <a:spcPct val="150000"/>
              </a:lnSpc>
              <a:buFont typeface="Arial" panose="020B0604020202020204" pitchFamily="34" charset="0"/>
              <a:buChar char="•"/>
            </a:pPr>
            <a:r>
              <a:rPr lang="en-IN" dirty="0"/>
              <a:t>Correct vs Incorrect analysis highlights order-</a:t>
            </a:r>
            <a:r>
              <a:rPr lang="en-IN" dirty="0" err="1"/>
              <a:t>fulfillment</a:t>
            </a:r>
            <a:r>
              <a:rPr lang="en-IN" dirty="0"/>
              <a:t> problems.</a:t>
            </a:r>
          </a:p>
          <a:p>
            <a:pPr marL="285750" indent="-285750">
              <a:lnSpc>
                <a:spcPct val="150000"/>
              </a:lnSpc>
              <a:buFont typeface="Arial" panose="020B0604020202020204" pitchFamily="34" charset="0"/>
              <a:buChar char="•"/>
            </a:pPr>
            <a:r>
              <a:rPr lang="en-IN" dirty="0"/>
              <a:t>Negative Feedback analysis identifies customer-experience problem areas.</a:t>
            </a:r>
          </a:p>
          <a:p>
            <a:pPr marL="285750" indent="-285750">
              <a:lnSpc>
                <a:spcPct val="150000"/>
              </a:lnSpc>
              <a:buFont typeface="Arial" panose="020B0604020202020204" pitchFamily="34" charset="0"/>
              <a:buChar char="•"/>
            </a:pPr>
            <a:r>
              <a:rPr lang="en-IN" dirty="0"/>
              <a:t>Map visual shows geographic distribution of reviews.</a:t>
            </a:r>
          </a:p>
          <a:p>
            <a:pPr marL="285750" indent="-285750">
              <a:lnSpc>
                <a:spcPct val="150000"/>
              </a:lnSpc>
              <a:buFont typeface="Arial" panose="020B0604020202020204" pitchFamily="34" charset="0"/>
              <a:buChar char="•"/>
            </a:pPr>
            <a:r>
              <a:rPr lang="en-IN" dirty="0"/>
              <a:t>Slicers for Location, Order Type and Price Rang support interactive investigation.</a:t>
            </a:r>
          </a:p>
        </p:txBody>
      </p:sp>
    </p:spTree>
    <p:extLst>
      <p:ext uri="{BB962C8B-B14F-4D97-AF65-F5344CB8AC3E}">
        <p14:creationId xmlns:p14="http://schemas.microsoft.com/office/powerpoint/2010/main" val="19528792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BF4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F3DC8FD-F77F-4742-9B0B-FADD12D7D48D}"/>
              </a:ext>
            </a:extLst>
          </p:cNvPr>
          <p:cNvSpPr txBox="1"/>
          <p:nvPr/>
        </p:nvSpPr>
        <p:spPr>
          <a:xfrm>
            <a:off x="757381" y="471055"/>
            <a:ext cx="6927273" cy="461665"/>
          </a:xfrm>
          <a:prstGeom prst="rect">
            <a:avLst/>
          </a:prstGeom>
          <a:noFill/>
        </p:spPr>
        <p:txBody>
          <a:bodyPr wrap="square" rtlCol="0">
            <a:spAutoFit/>
          </a:bodyPr>
          <a:lstStyle/>
          <a:p>
            <a:r>
              <a:rPr lang="en-IN" sz="2400" b="1" dirty="0">
                <a:solidFill>
                  <a:srgbClr val="1E466E"/>
                </a:solidFill>
                <a:latin typeface="+mj-lt"/>
              </a:rPr>
              <a:t>Problem          Evidence          Action</a:t>
            </a:r>
          </a:p>
        </p:txBody>
      </p:sp>
      <p:cxnSp>
        <p:nvCxnSpPr>
          <p:cNvPr id="6" name="Straight Arrow Connector 5">
            <a:extLst>
              <a:ext uri="{FF2B5EF4-FFF2-40B4-BE49-F238E27FC236}">
                <a16:creationId xmlns:a16="http://schemas.microsoft.com/office/drawing/2014/main" id="{FD004CD6-B0BB-1F37-D81F-79A6D536759A}"/>
              </a:ext>
            </a:extLst>
          </p:cNvPr>
          <p:cNvCxnSpPr/>
          <p:nvPr/>
        </p:nvCxnSpPr>
        <p:spPr>
          <a:xfrm>
            <a:off x="2115127" y="701842"/>
            <a:ext cx="314036"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604C7BDD-5B8B-298B-2EF2-6B7B91179EF6}"/>
              </a:ext>
            </a:extLst>
          </p:cNvPr>
          <p:cNvCxnSpPr/>
          <p:nvPr/>
        </p:nvCxnSpPr>
        <p:spPr>
          <a:xfrm>
            <a:off x="3856180" y="701842"/>
            <a:ext cx="314036"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graphicFrame>
        <p:nvGraphicFramePr>
          <p:cNvPr id="9" name="Table 8">
            <a:extLst>
              <a:ext uri="{FF2B5EF4-FFF2-40B4-BE49-F238E27FC236}">
                <a16:creationId xmlns:a16="http://schemas.microsoft.com/office/drawing/2014/main" id="{14C26F36-7F77-36AC-5170-CDC0510DBCE6}"/>
              </a:ext>
            </a:extLst>
          </p:cNvPr>
          <p:cNvGraphicFramePr>
            <a:graphicFrameLocks noGrp="1"/>
          </p:cNvGraphicFramePr>
          <p:nvPr>
            <p:extLst>
              <p:ext uri="{D42A27DB-BD31-4B8C-83A1-F6EECF244321}">
                <p14:modId xmlns:p14="http://schemas.microsoft.com/office/powerpoint/2010/main" val="1220305569"/>
              </p:ext>
            </p:extLst>
          </p:nvPr>
        </p:nvGraphicFramePr>
        <p:xfrm>
          <a:off x="979055" y="1597121"/>
          <a:ext cx="7989455" cy="4119880"/>
        </p:xfrm>
        <a:graphic>
          <a:graphicData uri="http://schemas.openxmlformats.org/drawingml/2006/table">
            <a:tbl>
              <a:tblPr firstRow="1" bandRow="1">
                <a:tableStyleId>{5C22544A-7EE6-4342-B048-85BDC9FD1C3A}</a:tableStyleId>
              </a:tblPr>
              <a:tblGrid>
                <a:gridCol w="2324179">
                  <a:extLst>
                    <a:ext uri="{9D8B030D-6E8A-4147-A177-3AD203B41FA5}">
                      <a16:colId xmlns:a16="http://schemas.microsoft.com/office/drawing/2014/main" val="1175149835"/>
                    </a:ext>
                  </a:extLst>
                </a:gridCol>
                <a:gridCol w="2832638">
                  <a:extLst>
                    <a:ext uri="{9D8B030D-6E8A-4147-A177-3AD203B41FA5}">
                      <a16:colId xmlns:a16="http://schemas.microsoft.com/office/drawing/2014/main" val="3922303554"/>
                    </a:ext>
                  </a:extLst>
                </a:gridCol>
                <a:gridCol w="2832638">
                  <a:extLst>
                    <a:ext uri="{9D8B030D-6E8A-4147-A177-3AD203B41FA5}">
                      <a16:colId xmlns:a16="http://schemas.microsoft.com/office/drawing/2014/main" val="4176077430"/>
                    </a:ext>
                  </a:extLst>
                </a:gridCol>
              </a:tblGrid>
              <a:tr h="370840">
                <a:tc>
                  <a:txBody>
                    <a:bodyPr/>
                    <a:lstStyle/>
                    <a:p>
                      <a:pPr algn="ctr"/>
                      <a:r>
                        <a:rPr lang="en-IN" b="1" dirty="0"/>
                        <a:t>Problem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Evidence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Recommended action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0536268"/>
                  </a:ext>
                </a:extLst>
              </a:tr>
              <a:tr h="370840">
                <a:tc>
                  <a:txBody>
                    <a:bodyPr/>
                    <a:lstStyle/>
                    <a:p>
                      <a:r>
                        <a:rPr lang="en-IN" dirty="0"/>
                        <a:t>Incorrect orders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Accuracy 50.30%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dirty="0"/>
                        <a:t>Improve order verification, picking and packing checks.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234434"/>
                  </a:ext>
                </a:extLst>
              </a:tr>
              <a:tr h="370840">
                <a:tc>
                  <a:txBody>
                    <a:bodyPr/>
                    <a:lstStyle/>
                    <a:p>
                      <a:r>
                        <a:rPr lang="en-IN" dirty="0"/>
                        <a:t>Negative experience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Negative feedback 34.54%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Investigate complaint drivers by location.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8712194"/>
                  </a:ext>
                </a:extLst>
              </a:tr>
              <a:tr h="370840">
                <a:tc>
                  <a:txBody>
                    <a:bodyPr/>
                    <a:lstStyle/>
                    <a:p>
                      <a:r>
                        <a:rPr lang="en-IN" dirty="0"/>
                        <a:t>Slow delivery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Average 34.96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Improve agent allocation and delivery routes.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842055"/>
                  </a:ext>
                </a:extLst>
              </a:tr>
              <a:tr h="370840">
                <a:tc>
                  <a:txBody>
                    <a:bodyPr/>
                    <a:lstStyle/>
                    <a:p>
                      <a:r>
                        <a:rPr lang="en-IN" dirty="0"/>
                        <a:t>Stock availability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Out-of-stock 50.06%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Improve inventory planning and replenishment.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1541461"/>
                  </a:ext>
                </a:extLst>
              </a:tr>
              <a:tr h="370840">
                <a:tc>
                  <a:txBody>
                    <a:bodyPr/>
                    <a:lstStyle/>
                    <a:p>
                      <a:r>
                        <a:rPr lang="en-IN" dirty="0"/>
                        <a:t>Service quality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Service rating 2.97/5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Target customer-service training.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6821725"/>
                  </a:ext>
                </a:extLst>
              </a:tr>
            </a:tbl>
          </a:graphicData>
        </a:graphic>
      </p:graphicFrame>
    </p:spTree>
    <p:extLst>
      <p:ext uri="{BB962C8B-B14F-4D97-AF65-F5344CB8AC3E}">
        <p14:creationId xmlns:p14="http://schemas.microsoft.com/office/powerpoint/2010/main" val="27095975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BF4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91FFC9-2BD3-19C1-611E-936AC20D309F}"/>
              </a:ext>
            </a:extLst>
          </p:cNvPr>
          <p:cNvSpPr txBox="1"/>
          <p:nvPr/>
        </p:nvSpPr>
        <p:spPr>
          <a:xfrm>
            <a:off x="655782" y="526473"/>
            <a:ext cx="10058400" cy="523220"/>
          </a:xfrm>
          <a:prstGeom prst="rect">
            <a:avLst/>
          </a:prstGeom>
          <a:noFill/>
        </p:spPr>
        <p:txBody>
          <a:bodyPr wrap="square" rtlCol="0">
            <a:spAutoFit/>
          </a:bodyPr>
          <a:lstStyle/>
          <a:p>
            <a:r>
              <a:rPr lang="en-IN" sz="2400" b="1" dirty="0">
                <a:latin typeface="+mj-lt"/>
              </a:rPr>
              <a:t>Client </a:t>
            </a:r>
            <a:r>
              <a:rPr lang="en-IN" sz="2800" b="1" dirty="0">
                <a:latin typeface="+mj-lt"/>
              </a:rPr>
              <a:t>Action</a:t>
            </a:r>
            <a:r>
              <a:rPr lang="en-IN" sz="2400" b="1" dirty="0">
                <a:latin typeface="+mj-lt"/>
              </a:rPr>
              <a:t> Plan</a:t>
            </a:r>
          </a:p>
        </p:txBody>
      </p:sp>
      <p:sp>
        <p:nvSpPr>
          <p:cNvPr id="3" name="TextBox 2">
            <a:extLst>
              <a:ext uri="{FF2B5EF4-FFF2-40B4-BE49-F238E27FC236}">
                <a16:creationId xmlns:a16="http://schemas.microsoft.com/office/drawing/2014/main" id="{A91F29DE-8605-C847-943B-F9BF97F0F5BE}"/>
              </a:ext>
            </a:extLst>
          </p:cNvPr>
          <p:cNvSpPr txBox="1"/>
          <p:nvPr/>
        </p:nvSpPr>
        <p:spPr>
          <a:xfrm>
            <a:off x="877455" y="1311564"/>
            <a:ext cx="10400145" cy="254537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Prioritize locations with high incorrect-order rates and negative feedback.</a:t>
            </a:r>
            <a:endParaRPr lang="en-IN" dirty="0"/>
          </a:p>
          <a:p>
            <a:pPr marL="285750" indent="-285750">
              <a:lnSpc>
                <a:spcPct val="150000"/>
              </a:lnSpc>
              <a:buFont typeface="Arial" panose="020B0604020202020204" pitchFamily="34" charset="0"/>
              <a:buChar char="•"/>
            </a:pPr>
            <a:r>
              <a:rPr lang="en-US" dirty="0"/>
              <a:t>Investigate delivery delays in locations above the overall delivery-time benchmark.</a:t>
            </a:r>
          </a:p>
          <a:p>
            <a:pPr marL="285750" indent="-285750">
              <a:lnSpc>
                <a:spcPct val="150000"/>
              </a:lnSpc>
              <a:buFont typeface="Arial" panose="020B0604020202020204" pitchFamily="34" charset="0"/>
              <a:buChar char="•"/>
            </a:pPr>
            <a:r>
              <a:rPr lang="en-US" dirty="0"/>
              <a:t>Improve order verification and packing controls.</a:t>
            </a:r>
          </a:p>
          <a:p>
            <a:pPr marL="285750" indent="-285750">
              <a:lnSpc>
                <a:spcPct val="150000"/>
              </a:lnSpc>
              <a:buFont typeface="Arial" panose="020B0604020202020204" pitchFamily="34" charset="0"/>
              <a:buChar char="•"/>
            </a:pPr>
            <a:r>
              <a:rPr lang="en-US" dirty="0"/>
              <a:t>Review frequently unavailable products and improve replenishment.</a:t>
            </a:r>
          </a:p>
          <a:p>
            <a:pPr marL="285750" indent="-285750">
              <a:lnSpc>
                <a:spcPct val="150000"/>
              </a:lnSpc>
              <a:buFont typeface="Arial" panose="020B0604020202020204" pitchFamily="34" charset="0"/>
              <a:buChar char="•"/>
            </a:pPr>
            <a:r>
              <a:rPr lang="en-IN" dirty="0"/>
              <a:t>Provide targeted customer-service training.</a:t>
            </a:r>
          </a:p>
          <a:p>
            <a:pPr marL="285750" indent="-285750">
              <a:lnSpc>
                <a:spcPct val="150000"/>
              </a:lnSpc>
              <a:buFont typeface="Arial" panose="020B0604020202020204" pitchFamily="34" charset="0"/>
              <a:buChar char="•"/>
            </a:pPr>
            <a:r>
              <a:rPr lang="en-US" dirty="0"/>
              <a:t>Monitor KPIs after corrective actions to confirm improvement.</a:t>
            </a:r>
          </a:p>
        </p:txBody>
      </p:sp>
    </p:spTree>
    <p:extLst>
      <p:ext uri="{BB962C8B-B14F-4D97-AF65-F5344CB8AC3E}">
        <p14:creationId xmlns:p14="http://schemas.microsoft.com/office/powerpoint/2010/main" val="1279488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C4167"/>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4BF2EE4-9C20-90BB-3CDC-6FAE360D67C0}"/>
              </a:ext>
            </a:extLst>
          </p:cNvPr>
          <p:cNvSpPr txBox="1"/>
          <p:nvPr/>
        </p:nvSpPr>
        <p:spPr>
          <a:xfrm>
            <a:off x="812800" y="369455"/>
            <a:ext cx="7112000" cy="553998"/>
          </a:xfrm>
          <a:prstGeom prst="rect">
            <a:avLst/>
          </a:prstGeom>
          <a:noFill/>
        </p:spPr>
        <p:txBody>
          <a:bodyPr wrap="square" rtlCol="0">
            <a:spAutoFit/>
          </a:bodyPr>
          <a:lstStyle/>
          <a:p>
            <a:pPr>
              <a:defRPr sz="3000" b="1">
                <a:solidFill>
                  <a:srgbClr val="FFFFFF"/>
                </a:solidFill>
              </a:defRPr>
            </a:pPr>
            <a:r>
              <a:rPr lang="en-IN" dirty="0">
                <a:latin typeface="+mj-lt"/>
              </a:rPr>
              <a:t>Client Presentation Statement</a:t>
            </a:r>
          </a:p>
        </p:txBody>
      </p:sp>
      <p:sp>
        <p:nvSpPr>
          <p:cNvPr id="6" name="TextBox 5">
            <a:extLst>
              <a:ext uri="{FF2B5EF4-FFF2-40B4-BE49-F238E27FC236}">
                <a16:creationId xmlns:a16="http://schemas.microsoft.com/office/drawing/2014/main" id="{6EAFF8D3-4382-CFBE-6037-46164DA65009}"/>
              </a:ext>
            </a:extLst>
          </p:cNvPr>
          <p:cNvSpPr txBox="1"/>
          <p:nvPr/>
        </p:nvSpPr>
        <p:spPr>
          <a:xfrm>
            <a:off x="979054" y="1348508"/>
            <a:ext cx="8737601" cy="1477328"/>
          </a:xfrm>
          <a:prstGeom prst="rect">
            <a:avLst/>
          </a:prstGeom>
          <a:noFill/>
        </p:spPr>
        <p:txBody>
          <a:bodyPr wrap="square" rtlCol="0">
            <a:spAutoFit/>
          </a:bodyPr>
          <a:lstStyle/>
          <a:p>
            <a:r>
              <a:rPr lang="en-IN" dirty="0">
                <a:solidFill>
                  <a:schemeClr val="bg1"/>
                </a:solidFill>
              </a:rPr>
              <a:t>“</a:t>
            </a:r>
            <a:r>
              <a:rPr lang="en-US" dirty="0">
                <a:solidFill>
                  <a:schemeClr val="bg1"/>
                </a:solidFill>
              </a:rPr>
              <a:t>I developed an interactive Power BI dashboard to convert customer review data into actionable operational insights. The dashboard identifies problems in order accuracy, delivery performance, customer service, feedback and product availability, and allows management to drill down by location and other business dimensions to prioritize corrective action.</a:t>
            </a:r>
            <a:r>
              <a:rPr lang="en-IN" dirty="0">
                <a:solidFill>
                  <a:schemeClr val="bg1"/>
                </a:solidFill>
              </a:rPr>
              <a:t>”</a:t>
            </a:r>
          </a:p>
        </p:txBody>
      </p:sp>
      <p:sp>
        <p:nvSpPr>
          <p:cNvPr id="7" name="TextBox 6">
            <a:extLst>
              <a:ext uri="{FF2B5EF4-FFF2-40B4-BE49-F238E27FC236}">
                <a16:creationId xmlns:a16="http://schemas.microsoft.com/office/drawing/2014/main" id="{41EB4151-785C-6969-08DB-16936A4D4D21}"/>
              </a:ext>
            </a:extLst>
          </p:cNvPr>
          <p:cNvSpPr txBox="1"/>
          <p:nvPr/>
        </p:nvSpPr>
        <p:spPr>
          <a:xfrm>
            <a:off x="979054" y="4387273"/>
            <a:ext cx="9901382" cy="615553"/>
          </a:xfrm>
          <a:prstGeom prst="rect">
            <a:avLst/>
          </a:prstGeom>
          <a:noFill/>
        </p:spPr>
        <p:txBody>
          <a:bodyPr wrap="square" rtlCol="0">
            <a:spAutoFit/>
          </a:bodyPr>
          <a:lstStyle/>
          <a:p>
            <a:r>
              <a:rPr lang="en-IN" sz="1600" dirty="0">
                <a:solidFill>
                  <a:schemeClr val="bg1"/>
                </a:solidFill>
              </a:rPr>
              <a:t>Fast_Delivery_Excel_Dashboard.xlsx  |  </a:t>
            </a:r>
            <a:r>
              <a:rPr lang="en-IN" sz="1600" dirty="0" err="1">
                <a:solidFill>
                  <a:schemeClr val="bg1"/>
                </a:solidFill>
              </a:rPr>
              <a:t>Fast_Delivery_Power_BI_Dashboard.pbix</a:t>
            </a:r>
            <a:endParaRPr lang="en-IN" sz="1600" dirty="0">
              <a:solidFill>
                <a:schemeClr val="bg1"/>
              </a:solidFill>
            </a:endParaRPr>
          </a:p>
          <a:p>
            <a:endParaRPr lang="en-IN" dirty="0"/>
          </a:p>
        </p:txBody>
      </p:sp>
    </p:spTree>
    <p:extLst>
      <p:ext uri="{BB962C8B-B14F-4D97-AF65-F5344CB8AC3E}">
        <p14:creationId xmlns:p14="http://schemas.microsoft.com/office/powerpoint/2010/main" val="37876543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253</TotalTime>
  <Words>446</Words>
  <Application>Microsoft Office PowerPoint</Application>
  <PresentationFormat>Widescreen</PresentationFormat>
  <Paragraphs>68</Paragraphs>
  <Slides>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FAST DELIVERY</vt:lpstr>
      <vt:lpstr>Business Problem</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Sourav Patra</dc:creator>
  <cp:lastModifiedBy>Sourav Patra</cp:lastModifiedBy>
  <cp:revision>5</cp:revision>
  <dcterms:created xsi:type="dcterms:W3CDTF">2026-08-15T16:07:30Z</dcterms:created>
  <dcterms:modified xsi:type="dcterms:W3CDTF">2026-08-16T06:06:12Z</dcterms:modified>
</cp:coreProperties>
</file>